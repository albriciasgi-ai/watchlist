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Validación API xStocks Bybit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Análisis de Compatibilidad y Resultados |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Resumen Ejecutivo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CAF50"/>
                </a:solidFill>
              </a:defRPr>
            </a:pPr>
            <a:r>
              <a:t>Estado Final</a:t>
            </a:r>
          </a:p>
          <a:p>
            <a:pPr lvl="1">
              <a:spcAft>
                <a:spcPts val="2000"/>
              </a:spcAft>
              <a:defRPr sz="1800"/>
            </a:pPr>
            <a:r>
              <a:t>✓ 5/5 xStocks completamente compatibles con la infraestructura API actual</a:t>
            </a:r>
          </a:p>
          <a:p>
            <a:pPr>
              <a:spcAft>
                <a:spcPts val="1200"/>
              </a:spcAft>
              <a:defRPr sz="2400" b="1">
                <a:solidFill>
                  <a:srgbClr val="1F4E78"/>
                </a:solidFill>
              </a:defRPr>
            </a:pPr>
            <a:r>
              <a:t>Conclusión</a:t>
            </a:r>
          </a:p>
          <a:p>
            <a:pPr lvl="1">
              <a:defRPr sz="1800"/>
            </a:pPr>
            <a:r>
              <a:t>Todos los xStocks activos son 100% compatibles</a:t>
            </a:r>
          </a:p>
          <a:p>
            <a:pPr lvl="1">
              <a:defRPr sz="1800"/>
            </a:pPr>
            <a:r>
              <a:t>No se requieren cambios en el código</a:t>
            </a:r>
          </a:p>
          <a:p>
            <a:pPr lvl="1">
              <a:defRPr sz="1800"/>
            </a:pPr>
            <a:r>
              <a:t>La implementación puede proceder inmediatamente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xStocks Activos en Bybit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Símbolo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Multiplicador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AAPLXUSDT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Apple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</a:defRPr>
                      </a:pPr>
                      <a:r>
                        <a:t>✓ Trading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NVDAXUSDT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NVIDIA Corp.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1.0017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</a:defRPr>
                      </a:pPr>
                      <a:r>
                        <a:t>✓ Trading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METAXUSDT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Meta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</a:defRPr>
                      </a:pPr>
                      <a:r>
                        <a:t>✓ Trading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GOOGLXUSDT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Alphabet Inc.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</a:defRPr>
                      </a:pPr>
                      <a:r>
                        <a:t>✓ Trading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MCDXUSDT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McDonald's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1.0212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CAF50"/>
                          </a:solidFill>
                        </a:defRPr>
                      </a:pPr>
                      <a:r>
                        <a:t>✓ Trading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Problema Identificado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44336"/>
                </a:solidFill>
              </a:defRPr>
            </a:pPr>
            <a:r>
              <a:t>Fallo en Validación Inicial</a:t>
            </a:r>
          </a:p>
          <a:p>
            <a:pPr lvl="1">
              <a:spcAft>
                <a:spcPts val="2000"/>
              </a:spcAft>
              <a:defRPr sz="1800"/>
            </a:pPr>
            <a:r>
              <a:t>0/8 símbolos pasaron las pruebas de validación</a:t>
            </a:r>
          </a:p>
          <a:p>
            <a:pPr>
              <a:spcAft>
                <a:spcPts val="1200"/>
              </a:spcAft>
              <a:defRPr sz="2400" b="1">
                <a:solidFill>
                  <a:srgbClr val="1F4E78"/>
                </a:solidFill>
              </a:defRPr>
            </a:pPr>
            <a:r>
              <a:t>Causa Raíz Identificada</a:t>
            </a:r>
          </a:p>
          <a:p>
            <a:pPr lvl="1">
              <a:defRPr sz="1800"/>
            </a:pPr>
            <a:r>
              <a:t>Formato de símbolo incorrecto: se usaba 'AAPLX' en lugar de 'AAPLXUSDT'</a:t>
            </a:r>
          </a:p>
          <a:p>
            <a:pPr lvl="1">
              <a:defRPr sz="1800"/>
            </a:pPr>
            <a:r>
              <a:t>3 símbolos de la lista original no existen o no están activos</a:t>
            </a:r>
          </a:p>
          <a:p>
            <a:pPr lvl="1">
              <a:defRPr sz="1800"/>
            </a:pPr>
            <a:r>
              <a:t>Lógica de validación con errores en extracción de datos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Proceso de Diagnóstico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1. Análisis de Resultados Fallidos</a:t>
            </a:r>
          </a:p>
          <a:p>
            <a:pPr lvl="1">
              <a:spcAft>
                <a:spcPts val="1200"/>
              </a:spcAft>
              <a:defRPr sz="1400"/>
            </a:pPr>
            <a:r>
              <a:t>Revisión del archivo xstocks_validation_results.json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2. Script de Diagnóstico</a:t>
            </a:r>
          </a:p>
          <a:p>
            <a:pPr lvl="1">
              <a:spcAft>
                <a:spcPts val="1200"/>
              </a:spcAft>
              <a:defRPr sz="1400"/>
            </a:pPr>
            <a:r>
              <a:t>Creación de diagnose_xstocks.py con 11 variaciones de formato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3. Descubrimiento de Formato Correcto</a:t>
            </a:r>
          </a:p>
          <a:p>
            <a:pPr lvl="1">
              <a:spcAft>
                <a:spcPts val="1200"/>
              </a:spcAft>
              <a:defRPr sz="1400"/>
            </a:pPr>
            <a:r>
              <a:t>Identificación de formato completo 'SYMBOLXUSDT'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4. Listado Completo de Mercado</a:t>
            </a:r>
          </a:p>
          <a:p>
            <a:pPr lvl="1">
              <a:spcAft>
                <a:spcPts val="1200"/>
              </a:spcAft>
              <a:defRPr sz="1400"/>
            </a:pPr>
            <a:r>
              <a:t>Descarga de 527 símbolos spot de Bybit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5. Filtrado de xStocks</a:t>
            </a:r>
          </a:p>
          <a:p>
            <a:pPr lvl="1">
              <a:spcAft>
                <a:spcPts val="1200"/>
              </a:spcAft>
              <a:defRPr sz="1400"/>
            </a:pPr>
            <a:r>
              <a:t>Identificación de 5 xStocks activos (no 8)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6. Corrección de Validación</a:t>
            </a:r>
          </a:p>
          <a:p>
            <a:pPr lvl="1">
              <a:spcAft>
                <a:spcPts val="1200"/>
              </a:spcAft>
              <a:defRPr sz="1400"/>
            </a:pPr>
            <a:r>
              <a:t>Ajuste de lógica de extracción de datos API</a:t>
            </a:r>
          </a:p>
          <a:p>
            <a:pPr>
              <a:spcAft>
                <a:spcPts val="600"/>
              </a:spcAft>
              <a:defRPr sz="1600" b="1">
                <a:solidFill>
                  <a:srgbClr val="1F4E78"/>
                </a:solidFill>
              </a:defRPr>
            </a:pPr>
            <a:r>
              <a:t>7. Validación Exitosa</a:t>
            </a:r>
          </a:p>
          <a:p>
            <a:pPr lvl="1">
              <a:spcAft>
                <a:spcPts val="1200"/>
              </a:spcAft>
              <a:defRPr sz="1400"/>
            </a:pPr>
            <a:r>
              <a:t>100% de compatibilidad confirmada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Problemas Técnicos Resueltos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44336"/>
                </a:solidFill>
              </a:defRPr>
            </a:pPr>
            <a:r>
              <a:t>1. Error de Codificación Unicode</a:t>
            </a:r>
          </a:p>
          <a:p>
            <a:pPr lvl="1">
              <a:spcAft>
                <a:spcPts val="200"/>
              </a:spcAft>
              <a:defRPr sz="1200"/>
            </a:pPr>
            <a:r>
              <a:t>Causa: Windows console no soporta caracteres ✓, ✗, ℹ</a:t>
            </a:r>
          </a:p>
          <a:p>
            <a:pPr lvl="1">
              <a:spcAft>
                <a:spcPts val="1000"/>
              </a:spcAft>
              <a:defRPr sz="1200">
                <a:solidFill>
                  <a:srgbClr val="4CAF50"/>
                </a:solidFill>
              </a:defRPr>
            </a:pPr>
            <a:r>
              <a:t>Solución: Reemplazo por [OK], [ERROR], [INFO]</a:t>
            </a:r>
          </a:p>
          <a:p>
            <a:pPr>
              <a:spcAft>
                <a:spcPts val="400"/>
              </a:spcAft>
              <a:defRPr sz="1400" b="1">
                <a:solidFill>
                  <a:srgbClr val="F44336"/>
                </a:solidFill>
              </a:defRPr>
            </a:pPr>
            <a:r>
              <a:t>2. Formato de Símbolo</a:t>
            </a:r>
          </a:p>
          <a:p>
            <a:pPr lvl="1">
              <a:spcAft>
                <a:spcPts val="200"/>
              </a:spcAft>
              <a:defRPr sz="1200"/>
            </a:pPr>
            <a:r>
              <a:t>Causa: Se probaba 'AAPLX' en lugar de 'AAPLXUSDT'</a:t>
            </a:r>
          </a:p>
          <a:p>
            <a:pPr lvl="1">
              <a:spcAft>
                <a:spcPts val="1000"/>
              </a:spcAft>
              <a:defRPr sz="1200">
                <a:solidFill>
                  <a:srgbClr val="4CAF50"/>
                </a:solidFill>
              </a:defRPr>
            </a:pPr>
            <a:r>
              <a:t>Solución: Corrección a formato completo del par</a:t>
            </a:r>
          </a:p>
          <a:p>
            <a:pPr>
              <a:spcAft>
                <a:spcPts val="400"/>
              </a:spcAft>
              <a:defRPr sz="1400" b="1">
                <a:solidFill>
                  <a:srgbClr val="F44336"/>
                </a:solidFill>
              </a:defRPr>
            </a:pPr>
            <a:r>
              <a:t>3. Validación de BaseCoin</a:t>
            </a:r>
          </a:p>
          <a:p>
            <a:pPr lvl="1">
              <a:spcAft>
                <a:spcPts val="200"/>
              </a:spcAft>
              <a:defRPr sz="1200"/>
            </a:pPr>
            <a:r>
              <a:t>Causa: Lógica incorrecta: esperaba 'AAPLXUSDT' en lugar de 'AAPLX'</a:t>
            </a:r>
          </a:p>
          <a:p>
            <a:pPr lvl="1">
              <a:spcAft>
                <a:spcPts val="1000"/>
              </a:spcAft>
              <a:defRPr sz="1200">
                <a:solidFill>
                  <a:srgbClr val="4CAF50"/>
                </a:solidFill>
              </a:defRPr>
            </a:pPr>
            <a:r>
              <a:t>Solución: Extracción correcta eliminando 'USDT'</a:t>
            </a:r>
          </a:p>
          <a:p>
            <a:pPr>
              <a:spcAft>
                <a:spcPts val="400"/>
              </a:spcAft>
              <a:defRPr sz="1400" b="1">
                <a:solidFill>
                  <a:srgbClr val="F44336"/>
                </a:solidFill>
              </a:defRPr>
            </a:pPr>
            <a:r>
              <a:t>4. Estructura JSON de Respuesta</a:t>
            </a:r>
          </a:p>
          <a:p>
            <a:pPr lvl="1">
              <a:spcAft>
                <a:spcPts val="200"/>
              </a:spcAft>
              <a:defRPr sz="1200"/>
            </a:pPr>
            <a:r>
              <a:t>Causa: Category estaba en result, no en instrument</a:t>
            </a:r>
          </a:p>
          <a:p>
            <a:pPr lvl="1">
              <a:spcAft>
                <a:spcPts val="1000"/>
              </a:spcAft>
              <a:defRPr sz="1200">
                <a:solidFill>
                  <a:srgbClr val="4CAF50"/>
                </a:solidFill>
              </a:defRPr>
            </a:pPr>
            <a:r>
              <a:t>Solución: Ajuste de extracción de datos anidados</a:t>
            </a:r>
          </a:p>
          <a:p>
            <a:pPr>
              <a:spcAft>
                <a:spcPts val="400"/>
              </a:spcAft>
              <a:defRPr sz="1400" b="1">
                <a:solidFill>
                  <a:srgbClr val="F44336"/>
                </a:solidFill>
              </a:defRPr>
            </a:pPr>
            <a:r>
              <a:t>5. Mapeo de Valores</a:t>
            </a:r>
          </a:p>
          <a:p>
            <a:pPr lvl="1">
              <a:spcAft>
                <a:spcPts val="200"/>
              </a:spcAft>
              <a:defRPr sz="1200"/>
            </a:pPr>
            <a:r>
              <a:t>Causa: Nombres de checks no coincidían con claves del objeto</a:t>
            </a:r>
          </a:p>
          <a:p>
            <a:pPr lvl="1">
              <a:spcAft>
                <a:spcPts val="1000"/>
              </a:spcAft>
              <a:defRPr sz="1200">
                <a:solidFill>
                  <a:srgbClr val="4CAF50"/>
                </a:solidFill>
              </a:defRPr>
            </a:pPr>
            <a:r>
              <a:t>Solución: Creación de value_map para mapeo correcto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Validación de Compatibilidad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/>
            </a:pPr>
            <a:r>
              <a:t>Todas las pruebas pasaron exitosamente para los 5 xStocks:</a:t>
            </a:r>
          </a:p>
          <a:p>
            <a:pPr>
              <a:spcAft>
                <a:spcPts val="600"/>
              </a:spcAft>
              <a:defRPr sz="1600" b="1">
                <a:solidFill>
                  <a:srgbClr val="4CAF50"/>
                </a:solidFill>
              </a:defRPr>
            </a:pPr>
            <a:r>
              <a:t>✓ Instruments Info</a:t>
            </a:r>
          </a:p>
          <a:p>
            <a:pPr lvl="1">
              <a:spcAft>
                <a:spcPts val="200"/>
              </a:spcAft>
              <a:defRPr sz="1400"/>
            </a:pPr>
            <a:r>
              <a:t>Symbol correcto</a:t>
            </a:r>
          </a:p>
          <a:p>
            <a:pPr lvl="1">
              <a:spcAft>
                <a:spcPts val="200"/>
              </a:spcAft>
              <a:defRPr sz="1400"/>
            </a:pPr>
            <a:r>
              <a:t>Category = spot</a:t>
            </a:r>
          </a:p>
          <a:p>
            <a:pPr lvl="1">
              <a:spcAft>
                <a:spcPts val="200"/>
              </a:spcAft>
              <a:defRPr sz="1400"/>
            </a:pPr>
            <a:r>
              <a:t>BaseCoin y QuoteCoin correctos</a:t>
            </a:r>
          </a:p>
          <a:p>
            <a:pPr lvl="1">
              <a:spcAft>
                <a:spcPts val="200"/>
              </a:spcAft>
              <a:defRPr sz="1400"/>
            </a:pPr>
            <a:r>
              <a:t>Campo xstockMultiplier presente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4CAF50"/>
                </a:solidFill>
              </a:defRPr>
            </a:pPr>
            <a:r>
              <a:t>✓ Kline Data</a:t>
            </a:r>
          </a:p>
          <a:p>
            <a:pPr lvl="1">
              <a:spcAft>
                <a:spcPts val="200"/>
              </a:spcAft>
              <a:defRPr sz="1400"/>
            </a:pPr>
            <a:r>
              <a:t>Datos históricos disponibles</a:t>
            </a:r>
          </a:p>
          <a:p>
            <a:pPr lvl="1">
              <a:spcAft>
                <a:spcPts val="200"/>
              </a:spcAft>
              <a:defRPr sz="1400"/>
            </a:pPr>
            <a:r>
              <a:t>Formato de velas correcto (7 elementos)</a:t>
            </a:r>
          </a:p>
          <a:p>
            <a:pPr lvl="1">
              <a:spcAft>
                <a:spcPts val="200"/>
              </a:spcAft>
              <a:defRPr sz="1400"/>
            </a:pPr>
            <a:r>
              <a:t>Lógica OHLC válida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4CAF50"/>
                </a:solidFill>
              </a:defRPr>
            </a:pPr>
            <a:r>
              <a:t>✓ Ticker Data</a:t>
            </a:r>
          </a:p>
          <a:p>
            <a:pPr lvl="1">
              <a:spcAft>
                <a:spcPts val="200"/>
              </a:spcAft>
              <a:defRPr sz="1400"/>
            </a:pPr>
            <a:r>
              <a:t>Precio en tiempo real</a:t>
            </a:r>
          </a:p>
          <a:p>
            <a:pPr lvl="1">
              <a:spcAft>
                <a:spcPts val="200"/>
              </a:spcAft>
              <a:defRPr sz="1400"/>
            </a:pPr>
            <a:r>
              <a:t>Datos 24h completos</a:t>
            </a:r>
          </a:p>
          <a:p>
            <a:pPr lvl="1">
              <a:spcAft>
                <a:spcPts val="200"/>
              </a:spcAft>
              <a:defRPr sz="1400"/>
            </a:pPr>
            <a:r>
              <a:t>Bid/Ask/Spread funcional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4CAF50"/>
                </a:solidFill>
              </a:defRPr>
            </a:pPr>
            <a:r>
              <a:t>✓ Multiple Intervals</a:t>
            </a:r>
          </a:p>
          <a:p>
            <a:pPr lvl="1">
              <a:spcAft>
                <a:spcPts val="200"/>
              </a:spcAft>
              <a:defRPr sz="1400"/>
            </a:pPr>
            <a:r>
              <a:t>6 intervalos soportados: 1m, 5m, 15m, 60m, 240m, D</a:t>
            </a:r>
          </a:p>
          <a:p>
            <a:pPr lvl="1">
              <a:spcAft>
                <a:spcPts val="200"/>
              </a:spcAft>
              <a:defRPr sz="1400"/>
            </a:pPr>
            <a:r>
              <a:t>Todos funcionan correctamente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Snapshot de Mercado (14 Oct 2026, 23:00 UTC)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Símbolo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Precio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24h High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24h Low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Vol 24h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Spread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AAPLXUSDT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$347.16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$348.51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$342.98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0.029%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NVDAXUSDT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$220.21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$230.38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$218.38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2,440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METAXUSDT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$730.64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$770.82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$729.02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0.036%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GOOGLXUSDT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$343.73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$360.15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$342.47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0.038%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MCDXUSDT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$240.58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$236.00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0.224%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Archivos Generados/Modificados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4E78"/>
                </a:solidFill>
              </a:defRPr>
            </a:pPr>
            <a:r>
              <a:t>Scripts de Diagnóstico</a:t>
            </a:r>
          </a:p>
          <a:p>
            <a:pPr>
              <a:spcAft>
                <a:spcPts val="400"/>
              </a:spcAft>
              <a:defRPr sz="1400" b="1"/>
            </a:pPr>
            <a:r>
              <a:t>diagnose_xstocks.py</a:t>
            </a:r>
          </a:p>
          <a:p>
            <a:pPr lvl="1">
              <a:spcAft>
                <a:spcPts val="1000"/>
              </a:spcAft>
              <a:defRPr sz="1200"/>
            </a:pPr>
            <a:r>
              <a:t>Script de diagnóstico con 11 variaciones de formato</a:t>
            </a:r>
          </a:p>
          <a:p>
            <a:pPr>
              <a:spcAft>
                <a:spcPts val="400"/>
              </a:spcAft>
              <a:defRPr sz="1400" b="1"/>
            </a:pPr>
            <a:r>
              <a:t>filter_xstocks.py</a:t>
            </a:r>
          </a:p>
          <a:p>
            <a:pPr lvl="1">
              <a:spcAft>
                <a:spcPts val="1000"/>
              </a:spcAft>
              <a:defRPr sz="1200"/>
            </a:pPr>
            <a:r>
              <a:t>Filtro para extraer xStocks del listado completo</a:t>
            </a:r>
          </a:p>
          <a:p>
            <a:pPr>
              <a:spcAft>
                <a:spcPts val="400"/>
              </a:spcAft>
              <a:defRPr sz="1400" b="1"/>
            </a:pPr>
            <a:r>
              <a:t>debug_xstocks.py</a:t>
            </a:r>
          </a:p>
          <a:p>
            <a:pPr lvl="1">
              <a:spcAft>
                <a:spcPts val="1000"/>
              </a:spcAft>
              <a:defRPr sz="1200"/>
            </a:pPr>
            <a:r>
              <a:t>Script para ver respuesta RAW de la API</a:t>
            </a:r>
          </a:p>
          <a:p>
            <a:pPr>
              <a:spcAft>
                <a:spcPts val="400"/>
              </a:spcAft>
              <a:defRPr sz="1400" b="1"/>
            </a:pPr>
            <a:r>
              <a:t>xstocks_found.json</a:t>
            </a:r>
          </a:p>
          <a:p>
            <a:pPr lvl="1">
              <a:spcAft>
                <a:spcPts val="1000"/>
              </a:spcAft>
              <a:defRPr sz="1200"/>
            </a:pPr>
            <a:r>
              <a:t>527 símbolos spot con metadata (5 xStocks identificados)</a:t>
            </a:r>
          </a:p>
          <a:p>
            <a:pPr>
              <a:spcAft>
                <a:spcPts val="400"/>
              </a:spcAft>
              <a:defRPr sz="1400" b="1"/>
            </a:pPr>
            <a:r>
              <a:t>test_xstocks_api.py</a:t>
            </a:r>
          </a:p>
          <a:p>
            <a:pPr lvl="1">
              <a:spcAft>
                <a:spcPts val="1000"/>
              </a:spcAft>
              <a:defRPr sz="1200"/>
            </a:pPr>
            <a:r>
              <a:t>Script de validación corregido</a:t>
            </a:r>
          </a:p>
          <a:p>
            <a:pPr>
              <a:spcAft>
                <a:spcPts val="400"/>
              </a:spcAft>
              <a:defRPr sz="1400" b="1"/>
            </a:pPr>
            <a:r>
              <a:t>xstocks_validation_results.json</a:t>
            </a:r>
          </a:p>
          <a:p>
            <a:pPr lvl="1">
              <a:spcAft>
                <a:spcPts val="1000"/>
              </a:spcAft>
              <a:defRPr sz="1200"/>
            </a:pPr>
            <a:r>
              <a:t>Resultados finales exitosos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Estructura de Respuesta API (Ejemplo)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5394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Courier New"/>
              </a:defRPr>
            </a:pPr>
            <a:r>
              <a:t>GET /v5/market/instruments-info?category=spot&amp;symbol=AAPLXUSDT</a:t>
            </a:r>
            <a:br/>
            <a:br/>
            <a:r>
              <a:t>Response:</a:t>
            </a:r>
            <a:br/>
            <a:r>
              <a:t>{</a:t>
            </a:r>
            <a:br/>
            <a:r>
              <a:t>  "retCode": 0,</a:t>
            </a:r>
            <a:br/>
            <a:r>
              <a:t>  "result": {</a:t>
            </a:r>
            <a:br/>
            <a:r>
              <a:t>    "category": "spot",</a:t>
            </a:r>
            <a:br/>
            <a:r>
              <a:t>    "list": [{</a:t>
            </a:r>
            <a:br/>
            <a:r>
              <a:t>      "symbol": "AAPLXUSDT",</a:t>
            </a:r>
            <a:br/>
            <a:r>
              <a:t>      "baseCoin": "AAPLX",</a:t>
            </a:r>
            <a:br/>
            <a:r>
              <a:t>      "quoteCoin": "USDT",</a:t>
            </a:r>
            <a:br/>
            <a:r>
              <a:t>      "status": "Trading",</a:t>
            </a:r>
            <a:br/>
            <a:r>
              <a:t>      "symbolType": "xstocks",</a:t>
            </a:r>
            <a:br/>
            <a:r>
              <a:t>      "xstockMultiplier": "1.0032690125398187",</a:t>
            </a:r>
            <a:br/>
            <a:r>
              <a:t>      "lotSizeFilter": {...},</a:t>
            </a:r>
            <a:br/>
            <a:r>
              <a:t>      "priceFilter": {...}</a:t>
            </a:r>
            <a:br/>
            <a:r>
              <a:t>    }]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8"/>
                </a:solidFill>
              </a:defRPr>
            </a:pPr>
            <a:r>
              <a:t>Conclusiones y 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4CAF50"/>
                </a:solidFill>
              </a:defRPr>
            </a:pPr>
            <a:r>
              <a:t>Conclusiones Clave</a:t>
            </a:r>
          </a:p>
          <a:p>
            <a:pPr lvl="1">
              <a:spcAft>
                <a:spcPts val="800"/>
              </a:spcAft>
              <a:defRPr sz="1600"/>
            </a:pPr>
            <a:r>
              <a:t>100% de compatibilidad confirmada para todos los xStocks activos</a:t>
            </a:r>
          </a:p>
          <a:p>
            <a:pPr lvl="1">
              <a:spcAft>
                <a:spcPts val="800"/>
              </a:spcAft>
              <a:defRPr sz="1600"/>
            </a:pPr>
            <a:r>
              <a:t>API de Bybit funciona idénticamente para xStocks y pares spot tradicionales</a:t>
            </a:r>
          </a:p>
          <a:p>
            <a:pPr lvl="1">
              <a:spcAft>
                <a:spcPts val="800"/>
              </a:spcAft>
              <a:defRPr sz="1600"/>
            </a:pPr>
            <a:r>
              <a:t>No se requieren cambios arquitectónicos en el código existente</a:t>
            </a:r>
          </a:p>
          <a:p>
            <a:pPr lvl="1">
              <a:spcAft>
                <a:spcPts val="800"/>
              </a:spcAft>
              <a:defRPr sz="1600"/>
            </a:pPr>
            <a:r>
              <a:t>Formato correcto: símbolo completo 'SYMBOLXUSDT' (ej: AAPLXUSDT)</a:t>
            </a:r>
          </a:p>
          <a:p>
            <a:pPr>
              <a:spcAft>
                <a:spcPts val="1200"/>
              </a:spcAft>
              <a:defRPr sz="2400" b="1">
                <a:solidFill>
                  <a:srgbClr val="1F4E78"/>
                </a:solidFill>
              </a:defRPr>
            </a:pPr>
            <a:r>
              <a:t>Próximos Pasos Recomendados</a:t>
            </a:r>
          </a:p>
          <a:p>
            <a:pPr lvl="1">
              <a:spcAft>
                <a:spcPts val="800"/>
              </a:spcAft>
              <a:defRPr sz="1600"/>
            </a:pPr>
            <a:r>
              <a:t>Agregar los 5 símbolos xStocks a la configuración de símbolos</a:t>
            </a:r>
          </a:p>
          <a:p>
            <a:pPr lvl="1">
              <a:spcAft>
                <a:spcPts val="800"/>
              </a:spcAft>
              <a:defRPr sz="1600"/>
            </a:pPr>
            <a:r>
              <a:t>Implementar en el entorno de desarrollo/staging</a:t>
            </a:r>
          </a:p>
          <a:p>
            <a:pPr lvl="1">
              <a:spcAft>
                <a:spcPts val="800"/>
              </a:spcAft>
              <a:defRPr sz="1600"/>
            </a:pPr>
            <a:r>
              <a:t>Realizar pruebas de integración end-to-end</a:t>
            </a:r>
          </a:p>
          <a:p>
            <a:pPr lvl="1">
              <a:spcAft>
                <a:spcPts val="800"/>
              </a:spcAft>
              <a:defRPr sz="1600"/>
            </a:pPr>
            <a:r>
              <a:t>Monitorear volumen y spreads antes del lanzamiento en producción</a:t>
            </a:r>
          </a:p>
          <a:p>
            <a:pPr lvl="1">
              <a:spcAft>
                <a:spcPts val="800"/>
              </a:spcAft>
              <a:defRPr sz="1600"/>
            </a:pPr>
            <a:r>
              <a:t>Considerar expandir a más xStocks cuando Bybit los liste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Validación Completada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CAF50"/>
                </a:solidFill>
              </a:defRPr>
            </a:pPr>
            <a:r>
              <a:t>xStocks Ready for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Octubre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